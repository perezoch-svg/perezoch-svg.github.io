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Sor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N8pQqKGx/8pCpyp7c8p1KRoeR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B7FDE7-8C30-4934-98D0-EFE96FF16308}">
  <a:tblStyle styleId="{83B7FDE7-8C30-4934-98D0-EFE96FF163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or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Sor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da8fce8a0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da8fce8a0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9da8fce8a0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e67e50dc1_0_56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9e67e50dc1_0_56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9e67e50dc1_0_5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e67e50dc1_0_57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e67e50dc1_0_5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e67e50dc1_0_5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9e67e50dc1_0_57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9e67e50dc1_0_5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9e67e50dc1_0_58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9e67e50dc1_0_58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9e67e50dc1_0_58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9e67e50dc1_0_5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e67e50dc1_0_58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9e67e50dc1_0_5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e67e50dc1_0_58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9e67e50dc1_0_58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9e67e50dc1_0_5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9e67e50dc1_0_59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9e67e50dc1_0_59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e67e50dc1_0_59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9e67e50dc1_0_59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9e67e50dc1_0_59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9e67e50dc1_0_59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9e67e50dc1_0_59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9e67e50dc1_0_60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9e67e50dc1_0_6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e67e50dc1_0_60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9e67e50dc1_0_60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9e67e50dc1_0_6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e67e50dc1_0_6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e67e50dc1_0_6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e67e50dc1_0_6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g39e67e50dc1_0_6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9e67e50dc1_0_6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9e67e50dc1_0_6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e67e50dc1_0_56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9e67e50dc1_0_56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9e67e50dc1_0_56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68100" y="629625"/>
            <a:ext cx="11455800" cy="180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>
                <a:solidFill>
                  <a:srgbClr val="00FFFF"/>
                </a:solidFill>
                <a:latin typeface="Sora"/>
                <a:ea typeface="Sora"/>
                <a:cs typeface="Sora"/>
                <a:sym typeface="Sora"/>
              </a:rPr>
              <a:t>META: Mini Financial Statement Analysis</a:t>
            </a:r>
            <a:endParaRPr b="1">
              <a:solidFill>
                <a:srgbClr val="00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0" y="2873800"/>
            <a:ext cx="121920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900">
                <a:solidFill>
                  <a:srgbClr val="FFF2CC"/>
                </a:solidFill>
                <a:latin typeface="Sora"/>
                <a:ea typeface="Sora"/>
                <a:cs typeface="Sora"/>
                <a:sym typeface="Sora"/>
              </a:rPr>
              <a:t>By</a:t>
            </a:r>
            <a:endParaRPr b="1" sz="2900">
              <a:solidFill>
                <a:srgbClr val="FFF2CC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900">
                <a:solidFill>
                  <a:srgbClr val="FFF2CC"/>
                </a:solidFill>
                <a:latin typeface="Sora"/>
                <a:ea typeface="Sora"/>
                <a:cs typeface="Sora"/>
                <a:sym typeface="Sora"/>
              </a:rPr>
              <a:t>Yael Perez Ochoa</a:t>
            </a:r>
            <a:endParaRPr b="1" sz="2900">
              <a:solidFill>
                <a:srgbClr val="FFF2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909573" y="609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Company Financial Analysis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909575" y="1659000"/>
            <a:ext cx="5212200" cy="3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</a:pPr>
            <a:r>
              <a:rPr b="1" lang="en-US">
                <a:solidFill>
                  <a:schemeClr val="lt1"/>
                </a:solidFill>
              </a:rPr>
              <a:t>Overview </a:t>
            </a:r>
            <a:endParaRPr b="1">
              <a:solidFill>
                <a:schemeClr val="lt1"/>
              </a:solidFill>
            </a:endParaRPr>
          </a:p>
          <a:p>
            <a:pPr indent="-32004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740"/>
              <a:buChar char="◻"/>
            </a:pPr>
            <a:r>
              <a:rPr lang="en-US">
                <a:solidFill>
                  <a:schemeClr val="lt1"/>
                </a:solidFill>
              </a:rPr>
              <a:t>Company: Meta Platforms (Facebook, Instagram, WhatsApp, Threads; Reality Labs)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32004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800"/>
              <a:buChar char="◻"/>
            </a:pPr>
            <a:r>
              <a:rPr lang="en-US">
                <a:solidFill>
                  <a:schemeClr val="lt1"/>
                </a:solidFill>
              </a:rPr>
              <a:t>Main conclusion: Meta is financially healthy: strong profitability, solid liquidity, and low leverage. The main watch-item is elevated 2025 capex to fund AI/data centers, which management frames as core to long-term growth.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2" name="Google Shape;72;p2" title="602047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950" y="12726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952498" y="637625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1" lang="en-US" sz="3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Ratio Analysis</a:t>
            </a:r>
            <a:endParaRPr b="1" sz="3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aphicFrame>
        <p:nvGraphicFramePr>
          <p:cNvPr id="78" name="Google Shape;78;p3"/>
          <p:cNvGraphicFramePr/>
          <p:nvPr/>
        </p:nvGraphicFramePr>
        <p:xfrm>
          <a:off x="952500" y="174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{83B7FDE7-8C30-4934-98D0-EFE96FF16308}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Ratio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Company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Industry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Current Ratio (liquidity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1.97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1.77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Total 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Debt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/ Equity (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leverage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)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25.41%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35.76%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Asset Turnover (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Efficiency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)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.68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.64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Net 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Profit</a:t>
                      </a: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 Margin (Profitability)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39.99%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21.09%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P/E Ratio (Valuation)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27.21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30.57</a:t>
                      </a:r>
                      <a:endParaRPr b="1" sz="2100">
                        <a:solidFill>
                          <a:schemeClr val="l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886273" y="677163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Interpretation of Ratios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886275" y="1545038"/>
            <a:ext cx="10116600" cy="4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AutoNum type="alphaLcPeriod"/>
            </a:pPr>
            <a:r>
              <a:rPr lang="en-US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Liquidity: Current ratio above </a:t>
            </a:r>
            <a:r>
              <a:rPr lang="en-US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industry &gt; comfortable near-term obligations coverage</a:t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AutoNum type="alphaLcPeriod"/>
            </a:pPr>
            <a:r>
              <a:rPr lang="en-US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Leverage: Debt/Equity well below industry &gt; low financial risk, flexibility to fund capex from cash flow</a:t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AutoNum type="alphaLcPeriod"/>
            </a:pPr>
            <a:r>
              <a:rPr lang="en-US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Efficiency: Asset turnover slightly above peers &gt; decent revenue generation per dollar of assets despite heavy infrastructure build</a:t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AutoNum type="alphaLcPeriod"/>
            </a:pPr>
            <a:r>
              <a:rPr lang="en-US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Profitability: Net Margin -40% vs -21% industry &gt; strong monetization and cost discipline</a:t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AutoNum type="alphaLcPeriod"/>
            </a:pPr>
            <a:r>
              <a:rPr lang="en-US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Valuation: P/E a bit below the industry figure &gt; not stretched relative to peers given superior margins</a:t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92319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Financial Report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923200" y="1640825"/>
            <a:ext cx="100797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What strategic decisions are taking place at this company?</a:t>
            </a:r>
            <a:endParaRPr b="1" i="1"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Aggressive AI infrastructure build; 2025 capex guided to $60–65B (later updated to $64–72B) focused on data centers, hardware, and core ads/AI.</a:t>
            </a:r>
            <a:endParaRPr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Continued investment in Reality Labs (AR/VR, smart glasses) while ads remain the profit engine.</a:t>
            </a:r>
            <a:endParaRPr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Is this consistent with what you observed in the ratio analysis?</a:t>
            </a:r>
            <a:endParaRPr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Sora"/>
              <a:buChar char="-"/>
            </a:pPr>
            <a:r>
              <a:rPr lang="en-US" sz="2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Yes. High margins and low leverage align with capacity to self-fund capex while keeping liquidity solid; efficiency remains acceptable given the asset build.</a:t>
            </a:r>
            <a:endParaRPr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1" name="Google Shape;91;p5" title="Meta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275" y="-383875"/>
            <a:ext cx="3599452" cy="20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923198" y="4740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Stakeholder Analysis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7" name="Google Shape;97;p6"/>
          <p:cNvSpPr txBox="1"/>
          <p:nvPr>
            <p:ph idx="1" type="body"/>
          </p:nvPr>
        </p:nvSpPr>
        <p:spPr>
          <a:xfrm>
            <a:off x="923200" y="1603750"/>
            <a:ext cx="100524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What did stakeholders seem to be concerned with during the earnings call?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Capex &amp; Expenses: Size, timing, and ROI of AI/data-center spend; 2025 expense envelope.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Monetization path for AI/WhatsApp and durability of ad demand.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Reality Labs losses/timeline and prioritization vs. core business.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Are these consistent with the strategy and the financial ratio analysis findings?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Yes. Questions center on converting heavy capex into returns - appropriate given strong current profitability/liquidity that make the investment feasible.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da8fce8a0_0_21"/>
          <p:cNvSpPr txBox="1"/>
          <p:nvPr>
            <p:ph type="title"/>
          </p:nvPr>
        </p:nvSpPr>
        <p:spPr>
          <a:xfrm>
            <a:off x="838200" y="2696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References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g39da8fce8a0_0_21"/>
          <p:cNvSpPr txBox="1"/>
          <p:nvPr>
            <p:ph idx="1" type="body"/>
          </p:nvPr>
        </p:nvSpPr>
        <p:spPr>
          <a:xfrm>
            <a:off x="838200" y="14847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Investing.com. “META Ratios – Company vs. Industry.” 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(accessed Oct 27, 2025). 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 Investor Relations. “Meta Reports Q2 2025 Results” 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(press release).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 IR. </a:t>
            </a: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 2025 Prepared Remarks” (PDF). 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 IR. </a:t>
            </a: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Fourth Quarter and Full Year 2024 Results”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(press release)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SEC. </a:t>
            </a: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 Platforms, Inc. Form 10-K for year ended Dec 31, 2024.</a:t>
            </a:r>
            <a:r>
              <a:rPr lang="en-US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